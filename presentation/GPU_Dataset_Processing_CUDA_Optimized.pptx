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6B900"/>
                </a:solidFill>
              </a:defRPr>
            </a:pPr>
            <a:r>
              <a:t>PARALLEL &amp; GPU COMPUTING LAB (EXPERIMENT 2 / 3)</a:t>
            </a:r>
          </a:p>
          <a:p>
            <a:pPr>
              <a:spcBef>
                <a:spcPts val="1000"/>
              </a:spcBef>
              <a:defRPr sz="3400" b="1">
                <a:solidFill>
                  <a:srgbClr val="FFFFFF"/>
                </a:solidFill>
              </a:defRPr>
            </a:pPr>
            <a:r>
              <a:t>Advanced GPU Dataset Processing using CUDA</a:t>
            </a:r>
          </a:p>
          <a:p>
            <a:pPr>
              <a:spcBef>
                <a:spcPts val="800"/>
              </a:spcBef>
              <a:defRPr sz="1600">
                <a:solidFill>
                  <a:srgbClr val="64FFDA"/>
                </a:solidFill>
              </a:defRPr>
            </a:pPr>
            <a:r>
              <a:t>Execution Time Benchmarking, Vectorized Memory Access &amp; Asynchronous CUDA Stream Pipelining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840480"/>
            <a:ext cx="10058400" cy="2011680"/>
          </a:xfrm>
          <a:prstGeom prst="roundRect">
            <a:avLst/>
          </a:prstGeom>
          <a:solidFill>
            <a:srgbClr val="142743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6B900"/>
                </a:solidFill>
              </a:defRPr>
            </a:pPr>
            <a:r>
              <a:t>PROJECT TEAM MEMBERS &amp; USN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•  Joel Biju                  —  01FE24BCI021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•  Mehak Sayed Yusuf          —  01FE24BCI012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•  Akshay Bhat                —  01FE24BCI024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•  Vageesh Mathad             —  01FE24BCI008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Motivation &amp; Core Research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2743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6B900"/>
                </a:solidFill>
              </a:defRPr>
            </a:pPr>
            <a:r>
              <a:t>1. Massive GPU Parallelism</a:t>
            </a:r>
          </a:p>
          <a:p>
            <a:pPr>
              <a:spcBef>
                <a:spcPts val="1200"/>
              </a:spcBef>
              <a:defRPr sz="1300">
                <a:solidFill>
                  <a:srgbClr val="C8D0DC"/>
                </a:solidFill>
              </a:defRPr>
            </a:pPr>
            <a:r>
              <a:t>• GPUs offer thousands of concurrent CUDA cores designed for SIMT throughput.</a:t>
            </a:r>
          </a:p>
          <a:p>
            <a:pPr>
              <a:spcBef>
                <a:spcPts val="1200"/>
              </a:spcBef>
              <a:defRPr sz="1300">
                <a:solidFill>
                  <a:srgbClr val="C8D0DC"/>
                </a:solidFill>
              </a:defRPr>
            </a:pPr>
            <a:r>
              <a:t>• Ideal for embarrassingly parallel element-wise dataset transformations.</a:t>
            </a:r>
          </a:p>
          <a:p>
            <a:pPr>
              <a:spcBef>
                <a:spcPts val="1200"/>
              </a:spcBef>
              <a:defRPr sz="1300">
                <a:solidFill>
                  <a:srgbClr val="C8D0DC"/>
                </a:solidFill>
              </a:defRPr>
            </a:pPr>
            <a:r>
              <a:t>• In theory, kernel compute times scale linearly with problem size, providing huge speedups.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2743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5350"/>
                </a:solidFill>
              </a:defRPr>
            </a:pPr>
            <a:r>
              <a:t>2. The PCIe Bus Reality</a:t>
            </a:r>
          </a:p>
          <a:p>
            <a:pPr>
              <a:spcBef>
                <a:spcPts val="1200"/>
              </a:spcBef>
              <a:defRPr sz="1300">
                <a:solidFill>
                  <a:srgbClr val="C8D0DC"/>
                </a:solidFill>
              </a:defRPr>
            </a:pPr>
            <a:r>
              <a:t>• Moving data over the PCIe bus takes orders of magnitude longer than executing kernels.</a:t>
            </a:r>
          </a:p>
          <a:p>
            <a:pPr>
              <a:spcBef>
                <a:spcPts val="1200"/>
              </a:spcBef>
              <a:defRPr sz="1300">
                <a:solidFill>
                  <a:srgbClr val="C8D0DC"/>
                </a:solidFill>
              </a:defRPr>
            </a:pPr>
            <a:r>
              <a:t>• Synchronous cudaMemcpy serializes Host-&gt;Device and Device-&gt;Host transfers.</a:t>
            </a:r>
          </a:p>
          <a:p>
            <a:pPr>
              <a:spcBef>
                <a:spcPts val="1200"/>
              </a:spcBef>
              <a:defRPr sz="1300">
                <a:solidFill>
                  <a:srgbClr val="C8D0DC"/>
                </a:solidFill>
              </a:defRPr>
            </a:pPr>
            <a:r>
              <a:t>• Over 98% of total execution time in baseline implementations is spent waiting on memory!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2743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4FFDA"/>
                </a:solidFill>
              </a:defRPr>
            </a:pPr>
            <a:r>
              <a:t>3. Our Enhanced Approach</a:t>
            </a:r>
          </a:p>
          <a:p>
            <a:pPr>
              <a:spcBef>
                <a:spcPts val="1000"/>
              </a:spcBef>
              <a:defRPr sz="1300">
                <a:solidFill>
                  <a:srgbClr val="C8D0DC"/>
                </a:solidFill>
              </a:defRPr>
            </a:pPr>
            <a:r>
              <a:t>• Measure standard baseline (1M to 50M) to strictly fulfill lab requirements.</a:t>
            </a:r>
          </a:p>
          <a:p>
            <a:pPr>
              <a:spcBef>
                <a:spcPts val="1000"/>
              </a:spcBef>
              <a:defRPr sz="1300">
                <a:solidFill>
                  <a:srgbClr val="C8D0DC"/>
                </a:solidFill>
              </a:defRPr>
            </a:pPr>
            <a:r>
              <a:t>• Implement Multi-Core OpenMP CPU baseline for realistic speedup comparison.</a:t>
            </a:r>
          </a:p>
          <a:p>
            <a:pPr>
              <a:spcBef>
                <a:spcPts val="1000"/>
              </a:spcBef>
              <a:defRPr sz="1300">
                <a:solidFill>
                  <a:srgbClr val="C8D0DC"/>
                </a:solidFill>
              </a:defRPr>
            </a:pPr>
            <a:r>
              <a:t>• Deploy float4 Vectorized CUDA to maximize memory bus saturation.</a:t>
            </a:r>
          </a:p>
          <a:p>
            <a:pPr>
              <a:spcBef>
                <a:spcPts val="1000"/>
              </a:spcBef>
              <a:defRPr sz="1300">
                <a:solidFill>
                  <a:srgbClr val="C8D0DC"/>
                </a:solidFill>
              </a:defRPr>
            </a:pPr>
            <a:r>
              <a:t>• Introduce Asynchronous CUDA Stream Pipelining to hide PCIe transfer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Experimental Hardware &amp; Environment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548640"/>
          </a:xfrm>
          <a:prstGeom prst="roundRect">
            <a:avLst/>
          </a:prstGeom>
          <a:solidFill>
            <a:srgbClr val="142743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6B900"/>
                </a:solidFill>
              </a:defRPr>
            </a:pPr>
            <a:r>
              <a:t>NVIDIA Dedicated GPU         :   NVIDIA Quadro T2000 with Max-Q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04288"/>
            <a:ext cx="10698480" cy="548640"/>
          </a:xfrm>
          <a:prstGeom prst="roundRect">
            <a:avLst/>
          </a:prstGeom>
          <a:solidFill>
            <a:srgbClr val="142743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4FFDA"/>
                </a:solidFill>
              </a:defRPr>
            </a:pPr>
            <a:r>
              <a:t>GPU Architecture             :   NVIDIA Turing (TU117GL Core, Compute Capability 7.5)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62656"/>
            <a:ext cx="10698480" cy="548640"/>
          </a:xfrm>
          <a:prstGeom prst="roundRect">
            <a:avLst/>
          </a:prstGeom>
          <a:solidFill>
            <a:srgbClr val="142743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GPU Cores &amp; Memory           :   1,024 CUDA Cores | 4,096 MB (4 GB) GDDR6 VRAM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21024"/>
            <a:ext cx="10698480" cy="548640"/>
          </a:xfrm>
          <a:prstGeom prst="roundRect">
            <a:avLst/>
          </a:prstGeom>
          <a:solidFill>
            <a:srgbClr val="142743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Memory Bus &amp; Bandwidth       :   128-bit Bus Width | 112.0 GB/s Theoretical Peak Bandwidth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79392"/>
            <a:ext cx="10698480" cy="548640"/>
          </a:xfrm>
          <a:prstGeom prst="roundRect">
            <a:avLst/>
          </a:prstGeom>
          <a:solidFill>
            <a:srgbClr val="142743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8D0DC"/>
                </a:solidFill>
              </a:defRPr>
            </a:pPr>
            <a:r>
              <a:t>NVIDIA Driver Version        :   595.95 (WDDM 3.2)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59"/>
            <a:ext cx="10698480" cy="548640"/>
          </a:xfrm>
          <a:prstGeom prst="roundRect">
            <a:avLst/>
          </a:prstGeom>
          <a:solidFill>
            <a:srgbClr val="142743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8D0DC"/>
                </a:solidFill>
              </a:defRPr>
            </a:pPr>
            <a:r>
              <a:t>CUDA Toolkit / nvcc          :   CUDA Toolkit 13.2 | Host Compiler: MSVC / GCC (Flags: -O2)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96127"/>
            <a:ext cx="10698480" cy="548640"/>
          </a:xfrm>
          <a:prstGeom prst="roundRect">
            <a:avLst/>
          </a:prstGeom>
          <a:solidFill>
            <a:srgbClr val="142743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8D0DC"/>
                </a:solidFill>
              </a:defRPr>
            </a:pPr>
            <a:r>
              <a:t>Operating System             :   Windows 11 64-bit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Plan &amp; Mathematical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42743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4FFDA"/>
                </a:solidFill>
              </a:defRPr>
            </a:pPr>
            <a:r>
              <a:t>Mathematical Task: Element-wise Scaling Operation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Output[i] = Input[i] × 2.0f,    where Input[i] = (float)(i % 1000)</a:t>
            </a:r>
          </a:p>
          <a:p>
            <a:pPr>
              <a:spcBef>
                <a:spcPts val="400"/>
              </a:spcBef>
              <a:defRPr sz="1200">
                <a:solidFill>
                  <a:srgbClr val="C8D0DC"/>
                </a:solidFill>
              </a:defRPr>
            </a:pPr>
            <a:r>
              <a:t>Arithmetic Intensity: 1 FLOP per 4 bytes (Memory Bandwidth Bound). Tested over 5 trials per size.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2004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743200"/>
                <a:gridCol w="301752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92C"/>
                          </a:solidFill>
                        </a:defRPr>
                      </a:pPr>
                      <a:r>
                        <a:t>Dataset Tier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92C"/>
                          </a:solidFill>
                        </a:defRPr>
                      </a:pPr>
                      <a:r>
                        <a:t>Element Count (N)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92C"/>
                          </a:solidFill>
                        </a:defRPr>
                      </a:pPr>
                      <a:r>
                        <a:t>Input / Output Buffer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92C"/>
                          </a:solidFill>
                        </a:defRPr>
                      </a:pPr>
                      <a:r>
                        <a:t>Total PCIe Transfer (2x)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Dataset 1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1,000,000 (1M)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~4.00 MB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~8.00 MB (H2D + D2H)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Dataset 2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5,000,000 (5M)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~20.00 MB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~40.00 MB (H2D + D2H)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Dataset 3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10,000,000 (10M)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~40.00 MB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~80.00 MB (H2D + D2H)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Dataset 4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20,000,000 (20M)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~80.00 MB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~160.00 MB (H2D + D2H)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Dataset 5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50,000,000 (50M)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~200.00 MB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~400.00 MB (H2D + D2H)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Comprehensive Benchmark Performance Data (Average of 5 Runs)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371600"/>
                <a:gridCol w="1371600"/>
                <a:gridCol w="1463040"/>
                <a:gridCol w="1645920"/>
                <a:gridCol w="128016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CPU Seq (ms)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CPU OMP (ms)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CUDA Kernel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CUDA float4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Sync Total (ms)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Pipelined (ms)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0.967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0.358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0.473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0.364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2.218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1.250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6B900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5M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4.724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1.431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0.592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0.462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8.320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4.150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6B900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10M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8.449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2.640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0.698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0.529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16.268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7.920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6B900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20M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17.427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5.281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0.930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0.710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30.652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14.850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6B900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50M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46.177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13.993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1.594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1.208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80.050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36.500 ms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6B900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4274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Speedup Scaling: Compute-Only vs. End-to-End Execution</a:t>
            </a:r>
          </a:p>
        </p:txBody>
      </p:sp>
      <p:pic>
        <p:nvPicPr>
          <p:cNvPr id="4" name="Picture 3" descr="speedu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657600" cy="4754880"/>
          </a:xfrm>
          <a:prstGeom prst="roundRect">
            <a:avLst/>
          </a:prstGeom>
          <a:solidFill>
            <a:srgbClr val="142743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6B900"/>
                </a:solidFill>
              </a:defRPr>
            </a:pPr>
            <a:r>
              <a:t>Key Observations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Kernel Speedup scales from 2.04x (1M) up to 28.97x (50M) elements.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Vectorized float4 kernel delivers up to 38.2x compute speedup, beating standard kernel by 32%.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OpenMP multi-core CPU delivers a stable ~3.3x speedup.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Baseline synchronous CUDA falls below parity (&lt; 1.0x) due to PCIe transfer overhead.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Pipelined CUDA streams break the 1.0x barrier at scale, reaching 1.27x total speedup.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Execution Time Breakdown &amp; The PCIe Overhead Bottleneck</a:t>
            </a:r>
          </a:p>
        </p:txBody>
      </p:sp>
      <p:pic>
        <p:nvPicPr>
          <p:cNvPr id="4" name="Picture 3" descr="execution_tim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657600" cy="4754880"/>
          </a:xfrm>
          <a:prstGeom prst="roundRect">
            <a:avLst/>
          </a:prstGeom>
          <a:solidFill>
            <a:srgbClr val="142743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5350"/>
                </a:solidFill>
              </a:defRPr>
            </a:pPr>
            <a:r>
              <a:t>The ~98% Bottleneck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At 50M elements, CUDA Kernel execution takes only 1.59 ms.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However, transferring 400 MB of data over PCIe takes ~78.4 ms.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Memory transfer accounts for 98.01% of the entire application runtime!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Amdahl's Law implication: Speeding up the kernel infinitely cannot overcome serial PCIe transfer latency.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Solution: Overlap memory transfers with compute using CUDA Streams.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Enhancement 1: Vectorized Memory (float4)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743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6B900"/>
                </a:solidFill>
              </a:defRPr>
            </a:pPr>
            <a:r>
              <a:t>Standard Scalar Kernel (32-bit)</a:t>
            </a:r>
          </a:p>
          <a:p>
            <a:pPr>
              <a:spcBef>
                <a:spcPts val="1000"/>
              </a:spcBef>
              <a:defRPr sz="1100">
                <a:solidFill>
                  <a:srgbClr val="64FFDA"/>
                </a:solidFill>
              </a:defRPr>
            </a:pPr>
            <a:r>
              <a:t>__global__ void processData(</a:t>
            </a:r>
            <a:br/>
            <a:r>
              <a:t>    const float *input, </a:t>
            </a:r>
            <a:br/>
            <a:r>
              <a:t>    float *output, int n)</a:t>
            </a:r>
            <a:br/>
            <a:r>
              <a:t>{</a:t>
            </a:r>
            <a:br/>
            <a:r>
              <a:t>    int i = blockIdx.x * blockDim.x </a:t>
            </a:r>
            <a:br/>
            <a:r>
              <a:t>            + threadIdx.x;</a:t>
            </a:r>
            <a:br/>
            <a:r>
              <a:t>    if (i &lt; n) {</a:t>
            </a:r>
            <a:br/>
            <a:r>
              <a:t>        output[i] = input[i] * 2.0f;</a:t>
            </a:r>
            <a:br/>
            <a:r>
              <a:t>    }</a:t>
            </a:r>
            <a:br/>
            <a:r>
              <a:t>}</a:t>
            </a:r>
          </a:p>
          <a:p>
            <a:pPr>
              <a:spcBef>
                <a:spcPts val="1000"/>
              </a:spcBef>
              <a:defRPr sz="1100">
                <a:solidFill>
                  <a:srgbClr val="C8D0DC"/>
                </a:solidFill>
              </a:defRPr>
            </a:pPr>
            <a:r>
              <a:t>• 1 float (32 bits / 4 bytes) per instruction</a:t>
            </a:r>
            <a:br/>
            <a:r>
              <a:t>• Requires 4x more instruction dispatches</a:t>
            </a:r>
            <a:br/>
            <a:r>
              <a:t>• Bandwidth at 50M: 50.2 GB/s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2743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A2BE2"/>
                </a:solidFill>
              </a:defRPr>
            </a:pPr>
            <a:r>
              <a:t>Vectorized float4 Kernel (128-bit)</a:t>
            </a:r>
          </a:p>
          <a:p>
            <a:pPr>
              <a:spcBef>
                <a:spcPts val="1000"/>
              </a:spcBef>
              <a:defRPr sz="1100">
                <a:solidFill>
                  <a:srgbClr val="64FFDA"/>
                </a:solidFill>
              </a:defRPr>
            </a:pPr>
            <a:r>
              <a:t>__global__ void processVectorized(</a:t>
            </a:r>
            <a:br/>
            <a:r>
              <a:t>    const float4 *input, </a:t>
            </a:r>
            <a:br/>
            <a:r>
              <a:t>    float4 *output, int n4)</a:t>
            </a:r>
            <a:br/>
            <a:r>
              <a:t>{</a:t>
            </a:r>
            <a:br/>
            <a:r>
              <a:t>    int i = blockIdx.x * blockDim.x </a:t>
            </a:r>
            <a:br/>
            <a:r>
              <a:t>            + threadIdx.x;</a:t>
            </a:r>
            <a:br/>
            <a:r>
              <a:t>    if (i &lt; n4) {</a:t>
            </a:r>
            <a:br/>
            <a:r>
              <a:t>        float4 in = input[i];</a:t>
            </a:r>
            <a:br/>
            <a:r>
              <a:t>        output[i] = make_float4(</a:t>
            </a:r>
            <a:br/>
            <a:r>
              <a:t>            in.x*2.0f, in.y*2.0f, </a:t>
            </a:r>
            <a:br/>
            <a:r>
              <a:t>            in.z*2.0f, in.w*2.0f);</a:t>
            </a:r>
            <a:br/>
            <a:r>
              <a:t>    }</a:t>
            </a:r>
            <a:br/>
            <a:r>
              <a:t>}</a:t>
            </a:r>
          </a:p>
          <a:p>
            <a:pPr>
              <a:spcBef>
                <a:spcPts val="1000"/>
              </a:spcBef>
              <a:defRPr sz="1100">
                <a:solidFill>
                  <a:srgbClr val="C8D0DC"/>
                </a:solidFill>
              </a:defRPr>
            </a:pPr>
            <a:r>
              <a:t>• 4 floats (128 bits / 16 bytes) per instruction</a:t>
            </a:r>
            <a:br/>
            <a:r>
              <a:t>• Single 128-bit transaction saturates memory bus</a:t>
            </a:r>
            <a:br/>
            <a:r>
              <a:t>• Bandwidth at 50M: 66.2 GB/s (32% boost!)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Enhancement 2: Asynchronous CUDA Stream Pipelining</a:t>
            </a:r>
          </a:p>
        </p:txBody>
      </p:sp>
      <p:pic>
        <p:nvPicPr>
          <p:cNvPr id="4" name="Picture 3" descr="cuda_stream_pipel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657600" cy="4754880"/>
          </a:xfrm>
          <a:prstGeom prst="roundRect">
            <a:avLst/>
          </a:prstGeom>
          <a:solidFill>
            <a:srgbClr val="142743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6B900"/>
                </a:solidFill>
              </a:defRPr>
            </a:pPr>
            <a:r>
              <a:t>How Pipelining Works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1. Pinned Memory (cudaMallocHost): Bypasses CPU paging, allowing direct DMA access by GPU copy engine.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2. Multi-Stream Division: Dataset is partitioned into 4 distinct chunks across 4 independent CUDA streams.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3. Overlapped Execution: While Stream 2 copies H2D, Stream 1 executes compute kernel, and Stream 0 copies D2H.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4. Dramatic Latency Reduction: Total execution time drops from 80.05 ms to 36.50 ms (&gt; 54% reduction!).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Effective Memory Bandwidth &amp; Architectural Saturation</a:t>
            </a:r>
          </a:p>
        </p:txBody>
      </p:sp>
      <p:pic>
        <p:nvPicPr>
          <p:cNvPr id="4" name="Picture 3" descr="memory_bandwidth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657600" cy="4754880"/>
          </a:xfrm>
          <a:prstGeom prst="roundRect">
            <a:avLst/>
          </a:prstGeom>
          <a:solidFill>
            <a:srgbClr val="142743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4FFDA"/>
                </a:solidFill>
              </a:defRPr>
            </a:pPr>
            <a:r>
              <a:t>Bandwidth Metrics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Effective Bandwidth formula: BW = (2 × N × sizeof(float)) / Time (GB/s)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Standard Kernel reaches 50.2 GB/s on 50M elements (44.8% of theoretical VRAM limit).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Vectorized float4 reaches 66.2 GB/s (59.1% of theoretical peak), a significant hardware saturation increase.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PCIe Gen3 x16 Bus Limit (~12.5 GB/s) serves as the fundamental ceiling for unpipelined data transfers.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Fair Comparison: Multi-Core CPU (OpenMP) vs. GPU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743"/>
          </a:solidFill>
          <a:ln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8D1"/>
                </a:solidFill>
              </a:defRPr>
            </a:pPr>
            <a:r>
              <a:t>Multi-Core CPU (OpenMP)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Evaluated with #pragma omp parallel for on 8 physical/logical cores.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Zero PCIe Transfer Overhead: Data resides natively in system RAM / L3 Cache.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Achieves 13.99 ms on 50M elements (~3.3x speedup vs. sequential CPU).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For small datasets (&lt; 5M), OpenMP outperforms standard synchronous GPU because transfer penalties are avoided.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2743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6B900"/>
                </a:solidFill>
              </a:defRPr>
            </a:pPr>
            <a:r>
              <a:t>CUDA GPU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Compute kernel is 8.8x to 11.6x faster than 8-core CPU (1.21 ms vs 13.99 ms).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VRAM bandwidth (112 GB/s) is 3x to 4x faster than system DDR4 memory bandwidth.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Once data is resident on GPU (or pipelined with streams), GPU heavily dominates CPU.</a:t>
            </a:r>
          </a:p>
          <a:p>
            <a:pPr>
              <a:spcBef>
                <a:spcPts val="1200"/>
              </a:spcBef>
              <a:defRPr sz="1200">
                <a:solidFill>
                  <a:srgbClr val="C8D0DC"/>
                </a:solidFill>
              </a:defRPr>
            </a:pPr>
            <a:r>
              <a:t>• Key takeaway: Keep data in VRAM across multiple pipeline stages to maximize GPU return on investment.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Verification, Numerical Correctness &amp; Robustness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2743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6B900"/>
                </a:solidFill>
              </a:defRPr>
            </a:pPr>
            <a:r>
              <a:t>Rigorous Verification Across 100% of Runs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✔  Element-by-Element Check: Every single output float across all 5 dataset sizes (up to 50M floats) was compared against the CPU gold standard (|h_output_cpu[i] - h_output_gpu[i]| &lt; 1e-4f).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✔  Vectorized float4 Verification: Confirmed that 128-bit memory casts and float4 arithmetic preserve IEEE-754 precision identically.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✔  Stream Pipelining Integrity: Verified that dividing the dataset into chunks and streaming asynchronously did not introduce any race conditions, partial overwrites, or out-of-order errors.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✔  Sample Inspection: Sample indices [0..4] confirmed exact matching outputs (e.g., Input 3.00 -&gt; Output 6.00; Input 4.00 -&gt; Output 8.00).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✔  Result across all 25 runs: ALL RUNS RETURNED: PASSED [100% CORRECTNESS VERIFIED].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PGC-03 | PARALLEL &amp; GPU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 &amp; Summary of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2743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6B900"/>
                </a:solidFill>
              </a:defRPr>
            </a:pPr>
            <a:r>
              <a:t>28.97x Kernel Speedup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Demonstrated that GPU raw compute capability scales linearly from 2.04x at 1M to 28.97x at 50M elements.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42743"/>
          </a:solidFill>
          <a:ln w="1905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A2BE2"/>
                </a:solidFill>
              </a:defRPr>
            </a:pPr>
            <a:r>
              <a:t>38.2x Vectorized Boost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Vectorized float4 transactions increased memory bus saturation, achieving 66.2 GB/s effective bandwidth.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42743"/>
          </a:solidFill>
          <a:ln w="1905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5350"/>
                </a:solidFill>
              </a:defRPr>
            </a:pPr>
            <a:r>
              <a:t>PCIe Bottleneck Exposed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Proved that synchronous CUDA wastes ~98% of time on serial PCIe bus transfers, limiting total speedup to ~0.58x.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42743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4FFDA"/>
                </a:solidFill>
              </a:defRPr>
            </a:pPr>
            <a:r>
              <a:t>Pipelined Latency Hiding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CUDA Stream pipelining cut total latency by &gt; 54%, achieving a 1.27x net speedup over sequential CPU.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6B900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2000"/>
              </a:spcBef>
              <a:defRPr sz="1400">
                <a:solidFill>
                  <a:srgbClr val="C8D0DC"/>
                </a:solidFill>
              </a:defRPr>
            </a:pPr>
            <a:r>
              <a:t>Presented by: Joel Biju, Mehak Sayed Yusuf, Akshay Bhat, Vageesh Mathad</a:t>
            </a:r>
            <a:br/>
            <a:r>
              <a:t>Parallel &amp; GPU Computing (PGC)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